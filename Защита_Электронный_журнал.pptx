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097280"/>
            <a:ext cx="4937760" cy="4937760"/>
          </a:xfrm>
          <a:prstGeom prst="ellipse">
            <a:avLst/>
          </a:prstGeom>
          <a:solidFill>
            <a:srgbClr val="2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0"/>
            <a:ext cx="3840480" cy="3840480"/>
          </a:xfrm>
          <a:prstGeom prst="ellipse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548640"/>
            <a:ext cx="3200400" cy="3200400"/>
          </a:xfrm>
          <a:prstGeom prst="ellipse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94360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1">
                <a:solidFill>
                  <a:srgbClr val="35B7BE"/>
                </a:solidFill>
                <a:latin typeface="Aptos"/>
              </a:defRPr>
            </a:pPr>
            <a:r>
              <a:t>ПРАКТИЧЕСКАЯ РАБОТА  •  ЗАЩИТА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7040880" cy="1463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600" b="1">
                <a:solidFill>
                  <a:srgbClr val="F8FAFD"/>
                </a:solidFill>
                <a:latin typeface="Aptos"/>
              </a:defRPr>
            </a:pPr>
            <a:r>
              <a:t>Электронный</a:t>
            </a:r>
            <a:br/>
            <a:r>
              <a:t>журнал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400800" cy="7315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900" b="0">
                <a:solidFill>
                  <a:srgbClr val="D5E0EF"/>
                </a:solidFill>
                <a:latin typeface="Aptos"/>
              </a:defRPr>
            </a:pPr>
            <a:r>
              <a:t>Веб-приложение для учёта учеников,</a:t>
            </a:r>
            <a:br/>
            <a:r>
              <a:t>предметов, оценок и посещаемости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5029200" cy="594360"/>
          </a:xfrm>
          <a:prstGeom prst="roundRect">
            <a:avLst/>
          </a:prstGeom>
          <a:solidFill>
            <a:srgbClr val="1C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782312"/>
            <a:ext cx="466344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1">
                <a:solidFill>
                  <a:srgbClr val="F8FAFD"/>
                </a:solidFill>
                <a:latin typeface="Aptos"/>
              </a:defRPr>
            </a:pPr>
            <a:r>
              <a:t>Python  •  Django  • 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594360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0">
                <a:solidFill>
                  <a:srgbClr val="BECBDE"/>
                </a:solidFill>
                <a:latin typeface="Aptos"/>
              </a:defRPr>
            </a:pPr>
            <a:r>
              <a:t>Выполнил: студент группы ИСП271 — Календеров Хамза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B0BED2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35B7B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01 / 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Зачем нужен электронный журнал?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Одна система вместо разрозненных учебных записей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4572000" cy="356616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3840480" cy="5486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1">
                <a:solidFill>
                  <a:srgbClr val="35B7BE"/>
                </a:solidFill>
                <a:latin typeface="Aptos"/>
              </a:defRPr>
            </a:pPr>
            <a:r>
              <a:t>ОСНОВНАЯ 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845" y="2880360"/>
            <a:ext cx="3794760" cy="1371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2600" b="1">
                <a:solidFill>
                  <a:srgbClr val="F8FAFD"/>
                </a:solidFill>
                <a:latin typeface="Aptos"/>
              </a:defRPr>
            </a:pPr>
            <a:r>
              <a:t>Хранить учебные данные</a:t>
            </a:r>
            <a:br/>
            <a:r>
              <a:t>в одном месте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1425" y="4526280"/>
            <a:ext cx="3749039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0">
                <a:solidFill>
                  <a:srgbClr val="CDD8E7"/>
                </a:solidFill>
                <a:latin typeface="Aptos"/>
              </a:defRPr>
            </a:pPr>
            <a:r>
              <a:t>Быстрее находить записи</a:t>
            </a:r>
            <a:br/>
            <a:r>
              <a:t>и поддерживать порядок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965960"/>
            <a:ext cx="571500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011679"/>
            <a:ext cx="50292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1">
                <a:solidFill>
                  <a:srgbClr val="295B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84248"/>
            <a:ext cx="2011680" cy="32918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Ученики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13432"/>
            <a:ext cx="4480560" cy="2743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Состав учебной группы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880360"/>
            <a:ext cx="571500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926079"/>
            <a:ext cx="50292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1">
                <a:solidFill>
                  <a:srgbClr val="295B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98648"/>
            <a:ext cx="2011680" cy="32918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Предметы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27832"/>
            <a:ext cx="4480560" cy="2743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Единый список дисциплин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794760"/>
            <a:ext cx="571500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840480"/>
            <a:ext cx="50292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1">
                <a:solidFill>
                  <a:srgbClr val="295B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13048"/>
            <a:ext cx="2011680" cy="32918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Оценки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42232"/>
            <a:ext cx="4480560" cy="2743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Результаты обучения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4709160"/>
            <a:ext cx="571500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754880"/>
            <a:ext cx="50292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1">
                <a:solidFill>
                  <a:srgbClr val="295B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27448"/>
            <a:ext cx="2011680" cy="32918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Посещаемость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56632"/>
            <a:ext cx="4480560" cy="2743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Учёт посещения занятий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02 / ЦЕЛЬ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Что требовалось сделать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От анализа предметной области до проверки приложения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514600" cy="260604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423160"/>
            <a:ext cx="566928" cy="566928"/>
          </a:xfrm>
          <a:prstGeom prst="ellipse">
            <a:avLst/>
          </a:prstGeom>
          <a:solidFill>
            <a:srgbClr val="2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66928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400" b="1">
                <a:solidFill>
                  <a:srgbClr val="F8FAF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05740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Изучить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075" y="3749040"/>
            <a:ext cx="2518410" cy="760730"/>
          </a:xfrm>
          <a:prstGeom prst="rect">
            <a:avLst/>
          </a:prstGeom>
          <a:noFill/>
        </p:spPr>
        <p:txBody>
          <a:bodyPr wrap="none" lIns="73152" tIns="27432" rIns="73152" bIns="27432" anchor="t">
            <a:no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Определить основные </a:t>
            </a:r>
          </a:p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данные и пользователей</a:t>
            </a:r>
          </a:p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системы.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148840"/>
            <a:ext cx="2514600" cy="260604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13048" y="2423160"/>
            <a:ext cx="566928" cy="566928"/>
          </a:xfrm>
          <a:prstGeom prst="ellipse">
            <a:avLst/>
          </a:prstGeom>
          <a:solidFill>
            <a:srgbClr val="2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450592"/>
            <a:ext cx="566928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400" b="1">
                <a:solidFill>
                  <a:srgbClr val="F8FAF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246120"/>
            <a:ext cx="205740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Спроектировать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495" y="3749040"/>
            <a:ext cx="2515870" cy="760730"/>
          </a:xfrm>
          <a:prstGeom prst="rect">
            <a:avLst/>
          </a:prstGeom>
          <a:noFill/>
        </p:spPr>
        <p:txBody>
          <a:bodyPr wrap="square" lIns="73152" tIns="27432" rIns="73152" bIns="27432" anchor="t">
            <a:no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Разделить проект на понятные модули и модели данных.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2148840"/>
            <a:ext cx="2514600" cy="260604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2423160"/>
            <a:ext cx="566928" cy="566928"/>
          </a:xfrm>
          <a:prstGeom prst="ellipse">
            <a:avLst/>
          </a:prstGeom>
          <a:solidFill>
            <a:srgbClr val="2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2450592"/>
            <a:ext cx="566928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400" b="1">
                <a:solidFill>
                  <a:srgbClr val="F8FAF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3246120"/>
            <a:ext cx="205740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Реализовать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025" y="3749040"/>
            <a:ext cx="2525395" cy="760730"/>
          </a:xfrm>
          <a:prstGeom prst="rect">
            <a:avLst/>
          </a:prstGeom>
          <a:noFill/>
        </p:spPr>
        <p:txBody>
          <a:bodyPr wrap="square" lIns="73152" tIns="27432" rIns="73152" bIns="27432" anchor="t">
            <a:no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Подготовить интерфейс управления и REST API.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2148840"/>
            <a:ext cx="2514600" cy="260604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18904" y="2423160"/>
            <a:ext cx="566928" cy="566928"/>
          </a:xfrm>
          <a:prstGeom prst="ellipse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8904" y="2450592"/>
            <a:ext cx="566928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400" b="1">
                <a:solidFill>
                  <a:srgbClr val="F8FAF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3246120"/>
            <a:ext cx="205740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Проверить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715" y="3749040"/>
            <a:ext cx="2533650" cy="760730"/>
          </a:xfrm>
          <a:prstGeom prst="rect">
            <a:avLst/>
          </a:prstGeom>
          <a:noFill/>
        </p:spPr>
        <p:txBody>
          <a:bodyPr wrap="square" lIns="73152" tIns="27432" rIns="73152" bIns="27432" anchor="t">
            <a:no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Проверить доступность разделов и ответы API.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881360" cy="59436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12080"/>
            <a:ext cx="10424160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400" b="1">
                <a:solidFill>
                  <a:srgbClr val="F8FAFD"/>
                </a:solidFill>
                <a:latin typeface="Aptos"/>
              </a:defRPr>
            </a:pPr>
            <a:r>
              <a:t>Результат: учебный прототип с централизованными данными и программным доступом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03 /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На чём построено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Каждый инструмент отвечает за свою часть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60704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11095"/>
            <a:ext cx="274320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911095"/>
            <a:ext cx="246888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1">
                <a:solidFill>
                  <a:srgbClr val="295BA0"/>
                </a:solidFill>
                <a:latin typeface="Aptos"/>
              </a:defRPr>
            </a:pPr>
            <a:r>
              <a:t>Язык программирования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11095"/>
            <a:ext cx="448056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Прикладная логика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07208"/>
            <a:ext cx="1060704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43784"/>
            <a:ext cx="274320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Django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43784"/>
            <a:ext cx="246888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1">
                <a:solidFill>
                  <a:srgbClr val="295BA0"/>
                </a:solidFill>
                <a:latin typeface="Aptos"/>
              </a:defRPr>
            </a:pPr>
            <a:r>
              <a:t>Веб-фреймворк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43784"/>
            <a:ext cx="448056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Маршруты, ORM и админ-панель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39896"/>
            <a:ext cx="1060704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76472"/>
            <a:ext cx="274320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Django REST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776472"/>
            <a:ext cx="246888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1">
                <a:solidFill>
                  <a:srgbClr val="295BA0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76472"/>
            <a:ext cx="448056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Обмен данными в формате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72583"/>
            <a:ext cx="10607040" cy="713232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59"/>
            <a:ext cx="274320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12203A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709159"/>
            <a:ext cx="246888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1">
                <a:solidFill>
                  <a:srgbClr val="295BA0"/>
                </a:solidFill>
                <a:latin typeface="Aptos"/>
              </a:defRPr>
            </a:pPr>
            <a:r>
              <a:t>База данных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59"/>
            <a:ext cx="4480560" cy="603504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Локальное хранение записей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04 / СТРУКТУРА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Четыре ключевые сущности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Связанные записи вместо повторного ввода информации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240280" cy="123444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68879"/>
            <a:ext cx="20116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УЧЕНИК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53512"/>
            <a:ext cx="201168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0">
                <a:solidFill>
                  <a:srgbClr val="BEE5E8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331720"/>
            <a:ext cx="2240280" cy="1234440"/>
          </a:xfrm>
          <a:prstGeom prst="roundRect">
            <a:avLst/>
          </a:prstGeom>
          <a:solidFill>
            <a:srgbClr val="2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2468879"/>
            <a:ext cx="20116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ПРЕДМЕТ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2953512"/>
            <a:ext cx="201168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0">
                <a:solidFill>
                  <a:srgbClr val="BEE5E8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331720"/>
            <a:ext cx="2240280" cy="123444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68879"/>
            <a:ext cx="20116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ОЦЕНКА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53512"/>
            <a:ext cx="201168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0">
                <a:solidFill>
                  <a:srgbClr val="BEE5E8"/>
                </a:solidFill>
                <a:latin typeface="Aptos"/>
              </a:defRPr>
            </a:pPr>
            <a:r>
              <a:t>Grade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331720"/>
            <a:ext cx="2240280" cy="1234440"/>
          </a:xfrm>
          <a:prstGeom prst="roundRect">
            <a:avLst/>
          </a:prstGeom>
          <a:solidFill>
            <a:srgbClr val="2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2468879"/>
            <a:ext cx="20116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1">
                <a:solidFill>
                  <a:srgbClr val="F8FAFD"/>
                </a:solidFill>
                <a:latin typeface="Aptos"/>
              </a:defRPr>
            </a:pPr>
            <a:r>
              <a:t>ПОСЕЩАЕМОСТЬ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953512"/>
            <a:ext cx="201168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0">
                <a:solidFill>
                  <a:srgbClr val="BEE5E8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7" name="Rectangle 16"/>
          <p:cNvSpPr/>
          <p:nvPr/>
        </p:nvSpPr>
        <p:spPr>
          <a:xfrm flipV="1">
            <a:off x="3017520" y="2869565"/>
            <a:ext cx="586740" cy="76200"/>
          </a:xfrm>
          <a:prstGeom prst="rect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2849880"/>
            <a:ext cx="593725" cy="76200"/>
          </a:xfrm>
          <a:prstGeom prst="rect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78545" y="2880360"/>
            <a:ext cx="502920" cy="45720"/>
          </a:xfrm>
          <a:prstGeom prst="rect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700" b="0">
                <a:solidFill>
                  <a:srgbClr val="233044"/>
                </a:solidFill>
                <a:latin typeface="Aptos"/>
              </a:defRPr>
            </a:pPr>
            <a:r>
              <a:t>Оценка связывает ученика и предмет. Запись посещаемости фиксирует факт присутствия на занятии.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05 / 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Административная панель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Основной экран для управления учебными записями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11680"/>
            <a:ext cx="2834640" cy="333756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331720"/>
            <a:ext cx="228600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1">
                <a:solidFill>
                  <a:srgbClr val="35B7BE"/>
                </a:solidFill>
                <a:latin typeface="Aptos"/>
              </a:defRPr>
            </a:pPr>
            <a:r>
              <a:t>ЧТО ДАЁТ АДМИНКА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971800"/>
            <a:ext cx="228600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F8FAFD"/>
                </a:solidFill>
                <a:latin typeface="Aptos"/>
              </a:defRPr>
            </a:pPr>
            <a:r>
              <a:t>• Просмотр записей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657600"/>
            <a:ext cx="228600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F8FAFD"/>
                </a:solidFill>
                <a:latin typeface="Aptos"/>
              </a:defRPr>
            </a:pPr>
            <a:r>
              <a:t>• Создание и изменение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343400"/>
            <a:ext cx="228600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F8FAFD"/>
                </a:solidFill>
                <a:latin typeface="Aptos"/>
              </a:defRPr>
            </a:pPr>
            <a:r>
              <a:t>• Единое управление данными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3" name="Изображение 12" descr="Снимок экрана (1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64665"/>
            <a:ext cx="6880225" cy="3904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06 / ОСНОВНЫЕ РАЗДЕЛЫ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Что можно учитывать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Модули отражают основные процессы учебной группы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38862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tud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1680"/>
            <a:ext cx="237744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59" y="46177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700" b="1">
                <a:solidFill>
                  <a:srgbClr val="12203A"/>
                </a:solidFill>
                <a:latin typeface="Aptos"/>
              </a:defRPr>
            </a:pPr>
            <a:r>
              <a:t>Ученики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0749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Данные учеников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606040" cy="38862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011680"/>
            <a:ext cx="237744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03320" y="46177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700" b="1">
                <a:solidFill>
                  <a:srgbClr val="12203A"/>
                </a:solidFill>
                <a:latin typeface="Aptos"/>
              </a:defRPr>
            </a:pPr>
            <a:r>
              <a:t>Предметы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0749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Список дисциплин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606040" cy="38862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_gr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011680"/>
            <a:ext cx="237744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46177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700" b="1">
                <a:solidFill>
                  <a:srgbClr val="12203A"/>
                </a:solidFill>
                <a:latin typeface="Aptos"/>
              </a:defRPr>
            </a:pPr>
            <a:r>
              <a:t>Оценки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749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Результаты оценивания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828800"/>
            <a:ext cx="2606040" cy="38862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_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7" y="2011680"/>
            <a:ext cx="2377440" cy="2423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64039" y="46177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700" b="1">
                <a:solidFill>
                  <a:srgbClr val="12203A"/>
                </a:solidFill>
                <a:latin typeface="Aptos"/>
              </a:defRPr>
            </a:pPr>
            <a:r>
              <a:t>Посещаемость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5074920"/>
            <a:ext cx="224028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Фиксация посещений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07 / ИНТЕГРАЦИЯ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REST API — доступ к данным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Данные можно получать программно, не только через интерфейс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4937760" cy="3474720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29768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1">
                <a:solidFill>
                  <a:srgbClr val="35B7BE"/>
                </a:solidFill>
                <a:latin typeface="Aptos"/>
              </a:defRPr>
            </a:pPr>
            <a:r>
              <a:t>ПРИМЕРЫ МАРШРУТОВ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29768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700" b="1">
                <a:solidFill>
                  <a:srgbClr val="F8FAFD"/>
                </a:solidFill>
                <a:latin typeface="Consolas" panose="020B0609020204030204"/>
              </a:defRPr>
            </a:pPr>
            <a:r>
              <a:t>/api/students/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429768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700" b="1">
                <a:solidFill>
                  <a:srgbClr val="F8FAFD"/>
                </a:solidFill>
                <a:latin typeface="Consolas" panose="020B0609020204030204"/>
              </a:defRPr>
            </a:pPr>
            <a:r>
              <a:t>/api/subjects/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429768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700" b="1">
                <a:solidFill>
                  <a:srgbClr val="F8FAFD"/>
                </a:solidFill>
                <a:latin typeface="Consolas" panose="020B0609020204030204"/>
              </a:defRPr>
            </a:pPr>
            <a:r>
              <a:t>/api/grades/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29768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700" b="1">
                <a:solidFill>
                  <a:srgbClr val="F8FAFD"/>
                </a:solidFill>
                <a:latin typeface="Consolas" panose="020B0609020204030204"/>
              </a:defRPr>
            </a:pPr>
            <a:r>
              <a:t>/api/attendance/</a:t>
            </a:r>
          </a:p>
        </p:txBody>
      </p:sp>
      <p:pic>
        <p:nvPicPr>
          <p:cNvPr id="11" name="Picture 10" descr="06_api_stude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20240"/>
            <a:ext cx="502920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5486400"/>
            <a:ext cx="48463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Aptos"/>
              </a:defRPr>
            </a:pPr>
            <a:r>
              <a:t>Ответ API представлен в формате JSON.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ounded Rectangle 4"/>
          <p:cNvSpPr/>
          <p:nvPr/>
        </p:nvSpPr>
        <p:spPr>
          <a:xfrm>
            <a:off x="822960" y="4660265"/>
            <a:ext cx="10927080" cy="1797685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08 /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Как проверяется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Сначала ручные сценарии, затем автоматические тесты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337560" cy="2286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95728"/>
            <a:ext cx="548640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Админ-панель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395" y="3474720"/>
            <a:ext cx="3113405" cy="688975"/>
          </a:xfrm>
          <a:prstGeom prst="rect">
            <a:avLst/>
          </a:prstGeom>
          <a:noFill/>
        </p:spPr>
        <p:txBody>
          <a:bodyPr wrap="none" lIns="73152" tIns="27432" rIns="73152" bIns="27432" anchor="t">
            <a:no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Проверить доступность и отображение</a:t>
            </a:r>
          </a:p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разделов.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148840"/>
            <a:ext cx="3337560" cy="2286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395728"/>
            <a:ext cx="548640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71800"/>
            <a:ext cx="283464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API-маршруты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045" y="3474720"/>
            <a:ext cx="3217545" cy="501650"/>
          </a:xfrm>
          <a:prstGeom prst="rect">
            <a:avLst/>
          </a:prstGeom>
          <a:noFill/>
        </p:spPr>
        <p:txBody>
          <a:bodyPr wrap="square" lIns="73152" tIns="27432" rIns="73152" bIns="27432" anchor="t">
            <a:no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Открыть конечные точки и проверить</a:t>
            </a:r>
          </a:p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 ответы.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148840"/>
            <a:ext cx="3337560" cy="2286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395728"/>
            <a:ext cx="548640" cy="4572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971800"/>
            <a:ext cx="283464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800" b="1">
                <a:solidFill>
                  <a:srgbClr val="12203A"/>
                </a:solidFill>
                <a:latin typeface="Aptos"/>
              </a:defRPr>
            </a:pPr>
            <a:r>
              <a:t>Автотесты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474720"/>
            <a:ext cx="2834640" cy="731520"/>
          </a:xfrm>
          <a:prstGeom prst="rect">
            <a:avLst/>
          </a:prstGeom>
          <a:noFill/>
        </p:spPr>
        <p:txBody>
          <a:bodyPr wrap="none" lIns="73152" tIns="27432" rIns="73152" bIns="27432" anchor="t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Запустить python manage.py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37760"/>
            <a:ext cx="10424160" cy="50292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1">
                <a:solidFill>
                  <a:srgbClr val="825312"/>
                </a:solidFill>
                <a:latin typeface="Aptos"/>
              </a:defRPr>
            </a:pPr>
            <a:r>
              <a:t>Перед сдачей важно приложить фактический результат запуска тестов.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7" name="Изображение 16" descr="Изображение ChatGPT 29 окт. 2026 г., 20_32_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395" y="4774565"/>
            <a:ext cx="10612120" cy="1586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09 / 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12203A"/>
                </a:solidFill>
                <a:latin typeface="Aptos"/>
              </a:defRPr>
            </a:pPr>
            <a:r>
              <a:t>Что важно улучшить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ptos"/>
              </a:defRPr>
            </a:pPr>
            <a:r>
              <a:t>Учебный прототип — основа для дальнейшего развития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074920" cy="1143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41732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Доступ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4230" y="2102993"/>
            <a:ext cx="3108960" cy="8686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0">
                <a:solidFill>
                  <a:srgbClr val="233044"/>
                </a:solidFill>
                <a:latin typeface="Aptos"/>
              </a:defRPr>
            </a:pPr>
            <a:r>
              <a:t>Настроить аутентификацию и роли пользователей.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5074920" cy="1143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141732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Валидация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075688"/>
            <a:ext cx="3108960" cy="8686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0">
                <a:solidFill>
                  <a:srgbClr val="233044"/>
                </a:solidFill>
                <a:latin typeface="Aptos"/>
              </a:defRPr>
            </a:pPr>
            <a:r>
              <a:t>Проверять корректность вводимых данных.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74720"/>
            <a:ext cx="5074920" cy="1143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79"/>
            <a:ext cx="141732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Тестирование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4230" y="3693668"/>
            <a:ext cx="3108960" cy="8686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200" b="0">
                <a:solidFill>
                  <a:srgbClr val="233044"/>
                </a:solidFill>
                <a:latin typeface="Aptos"/>
              </a:defRPr>
            </a:pPr>
            <a:r>
              <a:t>Добавить тесты на основные сценарии.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74720"/>
            <a:ext cx="5074920" cy="1143000"/>
          </a:xfrm>
          <a:prstGeom prst="roundRect">
            <a:avLst/>
          </a:prstGeom>
          <a:solidFill>
            <a:srgbClr val="E6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84574"/>
            <a:ext cx="141732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600" b="1">
                <a:solidFill>
                  <a:srgbClr val="295BA0"/>
                </a:solidFill>
                <a:latin typeface="Aptos"/>
              </a:defRPr>
            </a:pPr>
            <a:r>
              <a:t>Развёртывание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67150"/>
            <a:ext cx="3148965" cy="586105"/>
          </a:xfrm>
          <a:prstGeom prst="rect">
            <a:avLst/>
          </a:prstGeom>
          <a:noFill/>
        </p:spPr>
        <p:txBody>
          <a:bodyPr wrap="none" lIns="73152" tIns="27432" rIns="73152" bIns="27432" anchor="ctr">
            <a:noAutofit/>
          </a:bodyPr>
          <a:lstStyle/>
          <a:p>
            <a:pPr algn="l">
              <a:defRPr sz="1200" b="0">
                <a:solidFill>
                  <a:srgbClr val="233044"/>
                </a:solidFill>
                <a:latin typeface="Aptos"/>
              </a:defRPr>
            </a:pPr>
            <a:r>
              <a:t>Хранить секреты в окружении и настроить</a:t>
            </a:r>
          </a:p>
          <a:p>
            <a:pPr algn="l">
              <a:defRPr sz="1200" b="0">
                <a:solidFill>
                  <a:srgbClr val="233044"/>
                </a:solidFill>
                <a:latin typeface="Aptos"/>
              </a:defRPr>
            </a:pPr>
            <a:r>
              <a:t>рабочую БД.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295BA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3200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100" b="1">
                <a:solidFill>
                  <a:srgbClr val="35B7BE"/>
                </a:solidFill>
                <a:latin typeface="Aptos"/>
              </a:defRPr>
            </a:pPr>
            <a:r>
              <a:t>10 / 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3000" b="1">
                <a:solidFill>
                  <a:srgbClr val="F8FAFD"/>
                </a:solidFill>
                <a:latin typeface="Aptos"/>
              </a:defRPr>
            </a:pPr>
            <a:r>
              <a:t>Что даёт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400" b="0">
                <a:solidFill>
                  <a:srgbClr val="CDD8E7"/>
                </a:solidFill>
                <a:latin typeface="Aptos"/>
              </a:defRPr>
            </a:pPr>
            <a:r>
              <a:t>Основные результаты практической работы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6583680" cy="3474720"/>
          </a:xfrm>
          <a:prstGeom prst="roundRect">
            <a:avLst/>
          </a:prstGeom>
          <a:solidFill>
            <a:srgbClr val="1C3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514600"/>
            <a:ext cx="201168" cy="201168"/>
          </a:xfrm>
          <a:prstGeom prst="ellipse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539496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0">
                <a:solidFill>
                  <a:srgbClr val="F8FAFD"/>
                </a:solidFill>
                <a:latin typeface="Aptos"/>
              </a:defRPr>
            </a:pPr>
            <a:r>
              <a:t>Централизованное хранение учебных данных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3172968"/>
            <a:ext cx="201168" cy="201168"/>
          </a:xfrm>
          <a:prstGeom prst="ellipse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054096"/>
            <a:ext cx="539496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0">
                <a:solidFill>
                  <a:srgbClr val="F8FAFD"/>
                </a:solidFill>
                <a:latin typeface="Aptos"/>
              </a:defRPr>
            </a:pPr>
            <a:r>
              <a:t>Отдельные сущности для учеников и предметов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3831335"/>
            <a:ext cx="201168" cy="201168"/>
          </a:xfrm>
          <a:prstGeom prst="ellipse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712464"/>
            <a:ext cx="539496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0">
                <a:solidFill>
                  <a:srgbClr val="F8FAFD"/>
                </a:solidFill>
                <a:latin typeface="Aptos"/>
              </a:defRPr>
            </a:pPr>
            <a:r>
              <a:t>Учёт оценок и посещаемости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4489704"/>
            <a:ext cx="201168" cy="201168"/>
          </a:xfrm>
          <a:prstGeom prst="ellipse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370832"/>
            <a:ext cx="5394960" cy="4114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500" b="0">
                <a:solidFill>
                  <a:srgbClr val="F8FAFD"/>
                </a:solidFill>
                <a:latin typeface="Aptos"/>
              </a:defRPr>
            </a:pPr>
            <a:r>
              <a:t>Административная панель и 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331720"/>
            <a:ext cx="3291840" cy="2514600"/>
          </a:xfrm>
          <a:prstGeom prst="roundRect">
            <a:avLst/>
          </a:prstGeom>
          <a:solidFill>
            <a:srgbClr val="35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2743200" cy="54864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1300" b="1">
                <a:solidFill>
                  <a:srgbClr val="12203A"/>
                </a:solidFill>
                <a:latin typeface="Aptos"/>
              </a:defRPr>
            </a:pPr>
            <a:r>
              <a:t>ИТОГ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91840"/>
            <a:ext cx="2743200" cy="9144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ctr">
              <a:defRPr sz="2300" b="1">
                <a:solidFill>
                  <a:srgbClr val="12203A"/>
                </a:solidFill>
                <a:latin typeface="Aptos"/>
              </a:defRPr>
            </a:pPr>
            <a:r>
              <a:t>Учебный</a:t>
            </a:r>
            <a:br/>
            <a:r>
              <a:t>веб-прототип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1700" b="1">
                <a:solidFill>
                  <a:srgbClr val="F8FAFD"/>
                </a:solidFill>
                <a:latin typeface="Aptos"/>
              </a:defRPr>
            </a:pPr>
            <a:r>
              <a:t>Спасибо за внимание! Готов ответить на вопросы.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l">
              <a:defRPr sz="900" b="0">
                <a:solidFill>
                  <a:srgbClr val="B0BED2"/>
                </a:solidFill>
                <a:latin typeface="Aptos"/>
              </a:defRPr>
            </a:pPr>
            <a:r>
              <a:t>ЭЛЕКТРОННЫЙ ЖУРНАЛ ГРУППЫ  •  ЗАЩИТА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none" lIns="73152" tIns="27432" rIns="73152" bIns="27432" anchor="ctr">
            <a:spAutoFit/>
          </a:bodyPr>
          <a:lstStyle/>
          <a:p>
            <a:pPr algn="r">
              <a:defRPr sz="1000" b="1">
                <a:solidFill>
                  <a:srgbClr val="35B7B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3436</Words>
  <Application>WPS Presentation</Application>
  <PresentationFormat>On-screen Show (4:3)</PresentationFormat>
  <Paragraphs>303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Хамза Календеров</cp:lastModifiedBy>
  <cp:revision>3</cp:revision>
  <dcterms:created xsi:type="dcterms:W3CDTF">2013-01-27T09:14:00Z</dcterms:created>
  <dcterms:modified xsi:type="dcterms:W3CDTF">2026-10-29T17:34:54Z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1049-12.1.0.28099</vt:lpwstr>
  </property>
  <property fmtid="{D5CDD505-2E9C-101B-9397-08002B2CF9AE}" pid="3" name="ICV">
    <vt:lpwstr>A728ABE4C37046B5B93CE8E8D88A5B49_12</vt:lpwstr>
  </property>
</Properties>
</file>